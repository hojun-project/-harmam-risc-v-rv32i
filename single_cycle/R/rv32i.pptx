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29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13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84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31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3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2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95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99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82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35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07188-00D8-4CFF-A0A9-D31697FF0966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9E417-752C-4496-A5A9-A48E407EC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12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0513" y="576580"/>
            <a:ext cx="1798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R</a:t>
            </a:r>
            <a:endParaRPr lang="ko-KR" altLang="en-US" sz="40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7" y="1461752"/>
            <a:ext cx="11600400" cy="454534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247900" y="1644650"/>
            <a:ext cx="8763000" cy="527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/>
          <p:nvPr/>
        </p:nvCxnSpPr>
        <p:spPr>
          <a:xfrm>
            <a:off x="2736850" y="1461752"/>
            <a:ext cx="0" cy="4545348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651250" y="1461752"/>
            <a:ext cx="0" cy="4545348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560961" y="1461752"/>
            <a:ext cx="17389" cy="4545348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5492750" y="1461752"/>
            <a:ext cx="0" cy="4545348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6407150" y="1461752"/>
            <a:ext cx="0" cy="4545348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327900" y="1461752"/>
            <a:ext cx="0" cy="4545348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8223250" y="1461752"/>
            <a:ext cx="25400" cy="4545348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10090150" y="1461752"/>
            <a:ext cx="0" cy="4545348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아래쪽 화살표 22"/>
          <p:cNvSpPr/>
          <p:nvPr/>
        </p:nvSpPr>
        <p:spPr>
          <a:xfrm rot="10800000">
            <a:off x="25368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24" name="아래쪽 화살표 23"/>
          <p:cNvSpPr/>
          <p:nvPr/>
        </p:nvSpPr>
        <p:spPr>
          <a:xfrm rot="10800000">
            <a:off x="34512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25" name="아래쪽 화살표 24"/>
          <p:cNvSpPr/>
          <p:nvPr/>
        </p:nvSpPr>
        <p:spPr>
          <a:xfrm rot="10800000">
            <a:off x="43656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26" name="아래쪽 화살표 25"/>
          <p:cNvSpPr/>
          <p:nvPr/>
        </p:nvSpPr>
        <p:spPr>
          <a:xfrm rot="10800000">
            <a:off x="52800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27" name="아래쪽 화살표 26"/>
          <p:cNvSpPr/>
          <p:nvPr/>
        </p:nvSpPr>
        <p:spPr>
          <a:xfrm rot="10800000">
            <a:off x="61944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28" name="아래쪽 화살표 27"/>
          <p:cNvSpPr/>
          <p:nvPr/>
        </p:nvSpPr>
        <p:spPr>
          <a:xfrm rot="10800000">
            <a:off x="71088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29" name="아래쪽 화살표 28"/>
          <p:cNvSpPr/>
          <p:nvPr/>
        </p:nvSpPr>
        <p:spPr>
          <a:xfrm rot="10800000">
            <a:off x="80232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30" name="아래쪽 화살표 29"/>
          <p:cNvSpPr/>
          <p:nvPr/>
        </p:nvSpPr>
        <p:spPr>
          <a:xfrm rot="10800000">
            <a:off x="8937625" y="1028700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31" name="아래쪽 화살표 30"/>
          <p:cNvSpPr/>
          <p:nvPr/>
        </p:nvSpPr>
        <p:spPr>
          <a:xfrm rot="10800000">
            <a:off x="9852025" y="1033149"/>
            <a:ext cx="400050" cy="3416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00"/>
          </a:p>
        </p:txBody>
      </p:sp>
      <p:sp>
        <p:nvSpPr>
          <p:cNvPr id="32" name="TextBox 31"/>
          <p:cNvSpPr txBox="1"/>
          <p:nvPr/>
        </p:nvSpPr>
        <p:spPr>
          <a:xfrm>
            <a:off x="2221039" y="458599"/>
            <a:ext cx="967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3 + 2 = 5</a:t>
            </a:r>
            <a:endParaRPr lang="ko-KR" altLang="en-US" sz="105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88306" y="458599"/>
            <a:ext cx="967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5 – 6 = -1</a:t>
            </a:r>
            <a:endParaRPr lang="ko-KR" altLang="en-US" sz="105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50467" y="452861"/>
            <a:ext cx="967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1000 ^ 1001</a:t>
            </a:r>
          </a:p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0001</a:t>
            </a:r>
            <a:endParaRPr lang="ko-KR" altLang="en-US" sz="105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79634" y="452862"/>
            <a:ext cx="967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11 &lt; 12 ? 1</a:t>
            </a:r>
            <a:endParaRPr lang="ko-KR" altLang="en-US" sz="105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99694" y="461531"/>
            <a:ext cx="967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1101 ^ 0001</a:t>
            </a:r>
          </a:p>
          <a:p>
            <a:pPr algn="ctr"/>
            <a:r>
              <a:rPr lang="en-US" altLang="ko-KR" sz="1050" b="1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100</a:t>
            </a:r>
            <a:endParaRPr lang="ko-KR" altLang="en-US" sz="105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66961" y="461531"/>
            <a:ext cx="967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0010 &lt;&lt; 3</a:t>
            </a:r>
          </a:p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1_0000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29122" y="455793"/>
            <a:ext cx="967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0010 &gt;&gt; 3</a:t>
            </a:r>
          </a:p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58289" y="455794"/>
            <a:ext cx="967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2 &gt;&gt;&gt; 3</a:t>
            </a:r>
          </a:p>
          <a:p>
            <a:pPr algn="ctr"/>
            <a:r>
              <a:rPr lang="en-US" altLang="ko-KR" sz="1050" b="1">
                <a:latin typeface="HY헤드라인M" panose="02030600000101010101" pitchFamily="18" charset="-127"/>
                <a:ea typeface="HY헤드라인M" panose="02030600000101010101" pitchFamily="18" charset="-127"/>
              </a:rPr>
              <a:t>0</a:t>
            </a:r>
            <a:endParaRPr lang="ko-KR" altLang="en-US" sz="105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57294" y="467530"/>
            <a:ext cx="967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2 &lt; 3 ?</a:t>
            </a:r>
          </a:p>
          <a:p>
            <a:pPr algn="ctr"/>
            <a:r>
              <a:rPr lang="en-US" altLang="ko-KR" sz="1050" b="1">
                <a:latin typeface="HY헤드라인M" panose="02030600000101010101" pitchFamily="18" charset="-127"/>
                <a:ea typeface="HY헤드라인M" panose="02030600000101010101" pitchFamily="18" charset="-127"/>
              </a:rPr>
              <a:t>0</a:t>
            </a:r>
            <a:endParaRPr lang="ko-KR" altLang="en-US" sz="105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9" name="오른쪽으로 구부러진 화살표 48"/>
          <p:cNvSpPr/>
          <p:nvPr/>
        </p:nvSpPr>
        <p:spPr>
          <a:xfrm>
            <a:off x="1943100" y="2548116"/>
            <a:ext cx="304801" cy="607834"/>
          </a:xfrm>
          <a:prstGeom prst="curved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오른쪽으로 구부러진 화살표 53"/>
          <p:cNvSpPr/>
          <p:nvPr/>
        </p:nvSpPr>
        <p:spPr>
          <a:xfrm>
            <a:off x="3314649" y="2552174"/>
            <a:ext cx="297671" cy="114758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921785" y="2692556"/>
            <a:ext cx="1651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mtClean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400" b="1" smtClean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번지에 결과 저장</a:t>
            </a:r>
            <a:endParaRPr lang="ko-KR" altLang="en-US" sz="1400" b="1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19227" y="3242949"/>
            <a:ext cx="1651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00B0F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</a:t>
            </a:r>
            <a:r>
              <a:rPr lang="ko-KR" altLang="en-US" sz="1400" b="1" smtClean="0">
                <a:solidFill>
                  <a:srgbClr val="00B0F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번지에 결과 저장</a:t>
            </a:r>
            <a:endParaRPr lang="ko-KR" altLang="en-US" sz="1400" b="1">
              <a:solidFill>
                <a:srgbClr val="00B0F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6" name="오른쪽으로 구부러진 화살표 55"/>
          <p:cNvSpPr/>
          <p:nvPr/>
        </p:nvSpPr>
        <p:spPr>
          <a:xfrm>
            <a:off x="4013616" y="2548116"/>
            <a:ext cx="525803" cy="3139248"/>
          </a:xfrm>
          <a:prstGeom prst="curved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438400" y="5168144"/>
            <a:ext cx="1750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15</a:t>
            </a:r>
            <a:r>
              <a:rPr lang="ko-KR" altLang="en-US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번지에 결과 저장</a:t>
            </a:r>
            <a:endParaRPr lang="ko-KR" altLang="en-US" sz="1400" b="1">
              <a:solidFill>
                <a:srgbClr val="FFFF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8" name="오른쪽으로 구부러진 화살표 57"/>
          <p:cNvSpPr/>
          <p:nvPr/>
        </p:nvSpPr>
        <p:spPr>
          <a:xfrm>
            <a:off x="4934365" y="2548116"/>
            <a:ext cx="532153" cy="2277884"/>
          </a:xfrm>
          <a:prstGeom prst="curved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911309" y="3665931"/>
            <a:ext cx="1750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10</a:t>
            </a:r>
            <a:r>
              <a:rPr lang="ko-KR" altLang="en-US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번지에 결과 저장</a:t>
            </a:r>
            <a:endParaRPr lang="ko-KR" altLang="en-US" sz="1400" b="1">
              <a:solidFill>
                <a:srgbClr val="FFFF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0" name="오른쪽으로 구부러진 화살표 59"/>
          <p:cNvSpPr/>
          <p:nvPr/>
        </p:nvSpPr>
        <p:spPr>
          <a:xfrm flipH="1">
            <a:off x="6426454" y="2526988"/>
            <a:ext cx="682371" cy="2781611"/>
          </a:xfrm>
          <a:prstGeom prst="curved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108824" y="3973708"/>
            <a:ext cx="177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mtClean="0">
                <a:solidFill>
                  <a:srgbClr val="00B0F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13</a:t>
            </a:r>
            <a:r>
              <a:rPr lang="ko-KR" altLang="en-US" sz="1400" b="1" smtClean="0">
                <a:solidFill>
                  <a:srgbClr val="00B0F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번지에 결과 저장</a:t>
            </a:r>
            <a:endParaRPr lang="ko-KR" altLang="en-US" sz="1400" b="1">
              <a:solidFill>
                <a:srgbClr val="00B0F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2" name="오른쪽으로 구부러진 화살표 61"/>
          <p:cNvSpPr/>
          <p:nvPr/>
        </p:nvSpPr>
        <p:spPr>
          <a:xfrm flipH="1">
            <a:off x="7334251" y="2548115"/>
            <a:ext cx="444498" cy="624195"/>
          </a:xfrm>
          <a:prstGeom prst="curved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738634" y="2764926"/>
            <a:ext cx="2093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번지 </a:t>
            </a:r>
            <a:r>
              <a:rPr lang="en-US" altLang="ko-KR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over write </a:t>
            </a:r>
            <a:r>
              <a:rPr lang="ko-KR" altLang="en-US" sz="1400" b="1" smtClean="0">
                <a:solidFill>
                  <a:srgbClr val="FFFF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확인</a:t>
            </a:r>
            <a:endParaRPr lang="ko-KR" altLang="en-US" sz="1400" b="1">
              <a:solidFill>
                <a:srgbClr val="FFFF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664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295" y="233704"/>
            <a:ext cx="8205313" cy="638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6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94" y="1000125"/>
            <a:ext cx="11339984" cy="26109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995" y="4314825"/>
            <a:ext cx="7425208" cy="2434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988" y="292239"/>
            <a:ext cx="1798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R </a:t>
            </a:r>
            <a:r>
              <a:rPr lang="ko-KR" altLang="en-US" sz="40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검증</a:t>
            </a:r>
            <a:endParaRPr lang="ko-KR" altLang="en-US" sz="40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3994" y="3606939"/>
            <a:ext cx="5541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Register file </a:t>
            </a:r>
            <a:r>
              <a:rPr lang="ko-KR" altLang="en-US" sz="40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변화 확인</a:t>
            </a:r>
            <a:endParaRPr lang="ko-KR" altLang="en-US" sz="40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94" y="4314825"/>
            <a:ext cx="3218562" cy="5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6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38" y="1961679"/>
            <a:ext cx="4338661" cy="4417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96" y="774714"/>
            <a:ext cx="5639405" cy="27731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596" y="4395772"/>
            <a:ext cx="6253036" cy="19341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08" y="5768174"/>
            <a:ext cx="3677163" cy="40963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08" y="3731322"/>
            <a:ext cx="4096322" cy="581106"/>
          </a:xfrm>
          <a:prstGeom prst="rect">
            <a:avLst/>
          </a:prstGeom>
        </p:spPr>
      </p:pic>
      <p:sp>
        <p:nvSpPr>
          <p:cNvPr id="9" name="아래쪽 화살표 8"/>
          <p:cNvSpPr/>
          <p:nvPr/>
        </p:nvSpPr>
        <p:spPr>
          <a:xfrm>
            <a:off x="2115925" y="2699382"/>
            <a:ext cx="667512" cy="69494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아래쪽 화살표 9"/>
          <p:cNvSpPr/>
          <p:nvPr/>
        </p:nvSpPr>
        <p:spPr>
          <a:xfrm>
            <a:off x="2115925" y="4740352"/>
            <a:ext cx="667512" cy="69494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08966" y="2465644"/>
            <a:ext cx="2427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n-ea"/>
              </a:rPr>
              <a:t>SLT</a:t>
            </a:r>
            <a:r>
              <a:rPr lang="ko-KR" altLang="en-US" b="1" smtClean="0">
                <a:latin typeface="+mn-ea"/>
              </a:rPr>
              <a:t>연산 시 </a:t>
            </a:r>
            <a:r>
              <a:rPr lang="en-US" altLang="ko-KR" b="1" smtClean="0">
                <a:latin typeface="+mn-ea"/>
              </a:rPr>
              <a:t>Error </a:t>
            </a:r>
            <a:r>
              <a:rPr lang="ko-KR" altLang="en-US" b="1" smtClean="0">
                <a:latin typeface="+mn-ea"/>
              </a:rPr>
              <a:t>발생</a:t>
            </a:r>
            <a:endParaRPr lang="en-US" altLang="ko-KR" b="1" smtClean="0">
              <a:latin typeface="+mn-ea"/>
            </a:endParaRPr>
          </a:p>
          <a:p>
            <a:r>
              <a:rPr lang="en-US" altLang="ko-KR" b="1" smtClean="0">
                <a:latin typeface="+mn-ea"/>
              </a:rPr>
              <a:t>-8691 &lt; 8717</a:t>
            </a:r>
          </a:p>
          <a:p>
            <a:r>
              <a:rPr lang="en-US" altLang="ko-KR" b="1" smtClean="0">
                <a:latin typeface="+mn-ea"/>
              </a:rPr>
              <a:t>ALU = 0 ?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671048" y="4476827"/>
            <a:ext cx="603504" cy="263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790688" y="5980176"/>
            <a:ext cx="79675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008966" y="4349160"/>
            <a:ext cx="242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n-ea"/>
              </a:rPr>
              <a:t>Unsigned</a:t>
            </a:r>
            <a:r>
              <a:rPr lang="ko-KR" altLang="en-US" b="1" smtClean="0">
                <a:latin typeface="+mn-ea"/>
              </a:rPr>
              <a:t>비교 이기에</a:t>
            </a:r>
            <a:endParaRPr lang="en-US" altLang="ko-KR" b="1">
              <a:latin typeface="+mn-ea"/>
            </a:endParaRPr>
          </a:p>
          <a:p>
            <a:r>
              <a:rPr lang="en-US" altLang="ko-KR" b="1" smtClean="0">
                <a:latin typeface="+mn-ea"/>
              </a:rPr>
              <a:t>8717</a:t>
            </a:r>
            <a:r>
              <a:rPr lang="ko-KR" altLang="en-US" b="1" smtClean="0">
                <a:latin typeface="+mn-ea"/>
              </a:rPr>
              <a:t>보다 큰 값으로 인식하여 </a:t>
            </a:r>
            <a:r>
              <a:rPr lang="en-US" altLang="ko-KR" b="1" smtClean="0">
                <a:latin typeface="+mn-ea"/>
              </a:rPr>
              <a:t>0</a:t>
            </a:r>
            <a:r>
              <a:rPr lang="ko-KR" altLang="en-US" b="1" smtClean="0">
                <a:latin typeface="+mn-ea"/>
              </a:rPr>
              <a:t>으로 생성</a:t>
            </a:r>
            <a:endParaRPr lang="en-US" altLang="ko-KR" b="1" smtClean="0">
              <a:latin typeface="+mn-ea"/>
            </a:endParaRPr>
          </a:p>
          <a:p>
            <a:r>
              <a:rPr lang="en-US" altLang="ko-KR" b="1" smtClean="0">
                <a:latin typeface="+mn-ea"/>
              </a:rPr>
              <a:t>Signed</a:t>
            </a:r>
            <a:r>
              <a:rPr lang="ko-KR" altLang="en-US" b="1" smtClean="0">
                <a:latin typeface="+mn-ea"/>
              </a:rPr>
              <a:t>연산으로 수정</a:t>
            </a:r>
            <a:endParaRPr lang="en-US" altLang="ko-KR" b="1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494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14" y="426126"/>
            <a:ext cx="11235018" cy="281999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894064" y="1142315"/>
            <a:ext cx="2732532" cy="392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9361170" y="1633728"/>
            <a:ext cx="619506" cy="54854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692390" y="1584836"/>
            <a:ext cx="1668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>
                <a:solidFill>
                  <a:schemeClr val="bg1"/>
                </a:solidFill>
              </a:rPr>
              <a:t>하나의 연산에 두번 실행</a:t>
            </a:r>
            <a:endParaRPr lang="ko-KR" altLang="en-US" b="1">
              <a:solidFill>
                <a:schemeClr val="bg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14" y="4185981"/>
            <a:ext cx="2778311" cy="202082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189367"/>
            <a:ext cx="2747815" cy="2017438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3720578" y="4903785"/>
            <a:ext cx="1516913" cy="58521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20578" y="3708927"/>
            <a:ext cx="21315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smtClean="0"/>
              <a:t>명령어 연산은 </a:t>
            </a:r>
            <a:r>
              <a:rPr lang="en-US" altLang="ko-KR" sz="1400" b="1" smtClean="0"/>
              <a:t>clk</a:t>
            </a:r>
            <a:r>
              <a:rPr lang="ko-KR" altLang="en-US" sz="1400" b="1" smtClean="0"/>
              <a:t>의 사용하지 않기에 한클럭의 기다리는 과정에서 예상치 못한 딜레이 발생</a:t>
            </a:r>
            <a:endParaRPr lang="ko-KR" altLang="en-US"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3781095" y="5563760"/>
            <a:ext cx="14563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mtClean="0"/>
              <a:t>Clk</a:t>
            </a:r>
            <a:r>
              <a:rPr lang="ko-KR" altLang="en-US" sz="1400" b="1" smtClean="0"/>
              <a:t>이 아닌 </a:t>
            </a:r>
            <a:r>
              <a:rPr lang="en-US" altLang="ko-KR" sz="1400" b="1" smtClean="0"/>
              <a:t>#1</a:t>
            </a:r>
            <a:r>
              <a:rPr lang="ko-KR" altLang="en-US" sz="1400" b="1" smtClean="0"/>
              <a:t>지연을 통해 해결</a:t>
            </a:r>
            <a:endParaRPr lang="ko-KR" altLang="en-US" sz="1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3708926"/>
            <a:ext cx="2066924" cy="2593497"/>
          </a:xfrm>
          <a:prstGeom prst="rect">
            <a:avLst/>
          </a:prstGeom>
        </p:spPr>
      </p:pic>
      <p:sp>
        <p:nvSpPr>
          <p:cNvPr id="15" name="오른쪽 화살표 14"/>
          <p:cNvSpPr/>
          <p:nvPr/>
        </p:nvSpPr>
        <p:spPr>
          <a:xfrm>
            <a:off x="8743417" y="4903785"/>
            <a:ext cx="793775" cy="58521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878568" y="4185981"/>
            <a:ext cx="1748028" cy="2020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87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125</Words>
  <Application>Microsoft Office PowerPoint</Application>
  <PresentationFormat>와이드스크린</PresentationFormat>
  <Paragraphs>33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10</cp:revision>
  <dcterms:created xsi:type="dcterms:W3CDTF">2025-11-18T06:53:08Z</dcterms:created>
  <dcterms:modified xsi:type="dcterms:W3CDTF">2025-11-20T10:50:40Z</dcterms:modified>
</cp:coreProperties>
</file>